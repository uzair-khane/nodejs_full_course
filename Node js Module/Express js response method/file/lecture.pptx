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2" r:id="rId2"/>
    <p:sldId id="277" r:id="rId3"/>
    <p:sldId id="282" r:id="rId4"/>
    <p:sldId id="278" r:id="rId5"/>
    <p:sldId id="284" r:id="rId6"/>
    <p:sldId id="276" r:id="rId7"/>
    <p:sldId id="314" r:id="rId8"/>
    <p:sldId id="313" r:id="rId9"/>
    <p:sldId id="283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  <p:sldId id="307" r:id="rId33"/>
    <p:sldId id="308" r:id="rId34"/>
    <p:sldId id="309" r:id="rId35"/>
    <p:sldId id="310" r:id="rId36"/>
    <p:sldId id="311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3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5F37F-9AAF-44AE-B331-9C9D174C3E63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68164-45BE-40D6-B456-7F086F7D0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915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5F37F-9AAF-44AE-B331-9C9D174C3E63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68164-45BE-40D6-B456-7F086F7D0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57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5F37F-9AAF-44AE-B331-9C9D174C3E63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68164-45BE-40D6-B456-7F086F7D0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17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5F37F-9AAF-44AE-B331-9C9D174C3E63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68164-45BE-40D6-B456-7F086F7D0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17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5F37F-9AAF-44AE-B331-9C9D174C3E63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68164-45BE-40D6-B456-7F086F7D0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68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5F37F-9AAF-44AE-B331-9C9D174C3E63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68164-45BE-40D6-B456-7F086F7D0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69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5F37F-9AAF-44AE-B331-9C9D174C3E63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68164-45BE-40D6-B456-7F086F7D0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41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5F37F-9AAF-44AE-B331-9C9D174C3E63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68164-45BE-40D6-B456-7F086F7D0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9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5F37F-9AAF-44AE-B331-9C9D174C3E63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68164-45BE-40D6-B456-7F086F7D0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04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5F37F-9AAF-44AE-B331-9C9D174C3E63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68164-45BE-40D6-B456-7F086F7D0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84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5F37F-9AAF-44AE-B331-9C9D174C3E63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68164-45BE-40D6-B456-7F086F7D0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69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5F37F-9AAF-44AE-B331-9C9D174C3E63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68164-45BE-40D6-B456-7F086F7D0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94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699023"/>
            <a:ext cx="6858000" cy="1273379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Learning Rules (theory) </a:t>
            </a:r>
            <a:br>
              <a:rPr lang="en-US" b="1" dirty="0" smtClean="0"/>
            </a:br>
            <a:r>
              <a:rPr lang="en-US" b="1" dirty="0" smtClean="0"/>
              <a:t>in Neural Network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753691"/>
            <a:ext cx="6858000" cy="1241822"/>
          </a:xfrm>
        </p:spPr>
        <p:txBody>
          <a:bodyPr/>
          <a:lstStyle/>
          <a:p>
            <a:r>
              <a:rPr lang="en-US" dirty="0" smtClean="0"/>
              <a:t>Dr. Rahman Ali</a:t>
            </a:r>
          </a:p>
          <a:p>
            <a:r>
              <a:rPr lang="en-US" dirty="0" smtClean="0"/>
              <a:t>University of Peshawar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019827"/>
            <a:ext cx="8572500" cy="4486275"/>
          </a:xfrm>
          <a:prstGeom prst="rect">
            <a:avLst/>
          </a:prstGeom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1257300" y="5592731"/>
            <a:ext cx="6858000" cy="261610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/>
              <a:t>Dr. Rahman Ali University of Peshawar</a:t>
            </a:r>
          </a:p>
        </p:txBody>
      </p:sp>
    </p:spTree>
    <p:extLst>
      <p:ext uri="{BB962C8B-B14F-4D97-AF65-F5344CB8AC3E}">
        <p14:creationId xmlns:p14="http://schemas.microsoft.com/office/powerpoint/2010/main" val="410313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552734"/>
          </a:xfrm>
        </p:spPr>
        <p:txBody>
          <a:bodyPr>
            <a:noAutofit/>
          </a:bodyPr>
          <a:lstStyle/>
          <a:p>
            <a:pPr algn="ctr"/>
            <a:r>
              <a:rPr lang="en-US" sz="3600" b="1" u="sng" dirty="0"/>
              <a:t>Learning Rules in Neural Network</a:t>
            </a:r>
            <a:endParaRPr lang="en-US" sz="36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5429"/>
            <a:ext cx="9144000" cy="4143461"/>
          </a:xfrm>
        </p:spPr>
        <p:txBody>
          <a:bodyPr>
            <a:noAutofit/>
          </a:bodyPr>
          <a:lstStyle/>
          <a:p>
            <a:r>
              <a:rPr lang="en-US" sz="2400" b="1" dirty="0"/>
              <a:t>Learning R</a:t>
            </a:r>
            <a:r>
              <a:rPr lang="en-US" sz="2400" b="1" dirty="0" smtClean="0"/>
              <a:t>ule</a:t>
            </a:r>
            <a:r>
              <a:rPr lang="en-US" sz="2400" b="1" dirty="0"/>
              <a:t> </a:t>
            </a:r>
            <a:endParaRPr lang="en-US" sz="2400" b="1" dirty="0" smtClean="0"/>
          </a:p>
          <a:p>
            <a:pPr lvl="1"/>
            <a:r>
              <a:rPr lang="en-US" sz="2000" dirty="0"/>
              <a:t>The learning rule is a technique or a </a:t>
            </a:r>
            <a:r>
              <a:rPr lang="en-US" sz="2000" b="1" dirty="0"/>
              <a:t>mathematical </a:t>
            </a:r>
            <a:r>
              <a:rPr lang="en-US" sz="2000" b="1" dirty="0" smtClean="0"/>
              <a:t>logic </a:t>
            </a:r>
            <a:r>
              <a:rPr lang="en-US" sz="2000" dirty="0" smtClean="0"/>
              <a:t> </a:t>
            </a:r>
            <a:r>
              <a:rPr lang="en-US" sz="2000" b="1" dirty="0"/>
              <a:t>learning rule</a:t>
            </a:r>
            <a:r>
              <a:rPr lang="en-US" sz="2000" dirty="0"/>
              <a:t> is a method that helps a neural network learn and improve its performance</a:t>
            </a:r>
            <a:endParaRPr lang="en-US" sz="2000" dirty="0" smtClean="0"/>
          </a:p>
          <a:p>
            <a:r>
              <a:rPr lang="en-US" sz="2400" b="1" dirty="0" smtClean="0"/>
              <a:t>How it Works?</a:t>
            </a:r>
          </a:p>
          <a:p>
            <a:pPr lvl="1"/>
            <a:r>
              <a:rPr lang="en-US" sz="2000" dirty="0"/>
              <a:t>The learning rule changes the </a:t>
            </a:r>
            <a:r>
              <a:rPr lang="en-US" sz="2000" b="1" dirty="0"/>
              <a:t>weights and biases</a:t>
            </a:r>
            <a:r>
              <a:rPr lang="en-US" sz="2000" dirty="0"/>
              <a:t> of the network based on the data it sees, so the network can make better decisions over time.</a:t>
            </a:r>
            <a:endParaRPr lang="en-US" sz="2000" dirty="0" smtClean="0"/>
          </a:p>
          <a:p>
            <a:r>
              <a:rPr lang="en-US" sz="2400" b="1" dirty="0"/>
              <a:t>Types of ANN Learning Rules</a:t>
            </a:r>
          </a:p>
          <a:p>
            <a:pPr lvl="1"/>
            <a:r>
              <a:rPr lang="en-US" sz="2000" dirty="0" err="1" smtClean="0"/>
              <a:t>Hebbian</a:t>
            </a:r>
            <a:r>
              <a:rPr lang="en-US" sz="2000" dirty="0" smtClean="0"/>
              <a:t> </a:t>
            </a:r>
            <a:r>
              <a:rPr lang="en-US" sz="2000" dirty="0"/>
              <a:t>learning rule – </a:t>
            </a:r>
          </a:p>
          <a:p>
            <a:pPr lvl="1"/>
            <a:r>
              <a:rPr lang="en-US" sz="2000" dirty="0"/>
              <a:t>Perceptron learning rule – </a:t>
            </a:r>
          </a:p>
          <a:p>
            <a:pPr lvl="1"/>
            <a:r>
              <a:rPr lang="en-US" sz="2000" dirty="0"/>
              <a:t>Delta learning rule – </a:t>
            </a:r>
            <a:endParaRPr lang="en-US" sz="2000" dirty="0" smtClean="0"/>
          </a:p>
          <a:p>
            <a:pPr lvl="1"/>
            <a:r>
              <a:rPr lang="en-US" sz="2000" dirty="0" smtClean="0"/>
              <a:t>Correlation </a:t>
            </a:r>
            <a:r>
              <a:rPr lang="en-US" sz="2000" dirty="0"/>
              <a:t>learning rule – </a:t>
            </a:r>
            <a:endParaRPr lang="en-US" sz="2000" dirty="0" smtClean="0"/>
          </a:p>
          <a:p>
            <a:pPr lvl="1"/>
            <a:r>
              <a:rPr lang="en-US" sz="2000" dirty="0" err="1" smtClean="0"/>
              <a:t>Outstar</a:t>
            </a:r>
            <a:r>
              <a:rPr lang="en-US" sz="2000" dirty="0" smtClean="0"/>
              <a:t> </a:t>
            </a:r>
            <a:r>
              <a:rPr lang="en-US" sz="2000" dirty="0"/>
              <a:t>learning rule – </a:t>
            </a:r>
          </a:p>
        </p:txBody>
      </p:sp>
    </p:spTree>
    <p:extLst>
      <p:ext uri="{BB962C8B-B14F-4D97-AF65-F5344CB8AC3E}">
        <p14:creationId xmlns:p14="http://schemas.microsoft.com/office/powerpoint/2010/main" val="18043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215" y="5264"/>
            <a:ext cx="7886700" cy="738046"/>
          </a:xfrm>
        </p:spPr>
        <p:txBody>
          <a:bodyPr/>
          <a:lstStyle/>
          <a:p>
            <a:r>
              <a:rPr lang="en-US" b="1" u="sng" dirty="0"/>
              <a:t>Learning Rules in Neural </a:t>
            </a:r>
            <a:r>
              <a:rPr lang="en-US" b="1" u="sng" dirty="0" smtClean="0"/>
              <a:t>Network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54530"/>
            <a:ext cx="7886700" cy="3826042"/>
          </a:xfrm>
        </p:spPr>
        <p:txBody>
          <a:bodyPr>
            <a:normAutofit fontScale="70000" lnSpcReduction="20000"/>
          </a:bodyPr>
          <a:lstStyle/>
          <a:p>
            <a:r>
              <a:rPr lang="en-US" smtClean="0"/>
              <a:t>Learning rule or Learning process is a method or a mathematical logic. It improves the Artificial Neural Network’s performance and applies this rule over the network. </a:t>
            </a:r>
          </a:p>
          <a:p>
            <a:r>
              <a:rPr lang="en-US" smtClean="0"/>
              <a:t>Thus learning rules updates the weights and bias levels of a network when a network simulates in a specific data environment.</a:t>
            </a:r>
          </a:p>
          <a:p>
            <a:r>
              <a:rPr lang="en-US" smtClean="0"/>
              <a:t>Applying learning rule is an iterative process. It helps a neural network to learn from the existing conditions and improve its performance.</a:t>
            </a:r>
          </a:p>
          <a:p>
            <a:pPr lvl="1"/>
            <a:r>
              <a:rPr lang="en-US" smtClean="0"/>
              <a:t>Hebbian learning rule – It identifies, how to modify the weights of nodes of a network.</a:t>
            </a:r>
          </a:p>
          <a:p>
            <a:pPr lvl="1"/>
            <a:r>
              <a:rPr lang="en-US" smtClean="0"/>
              <a:t>Perceptron learning rule – Network starts its learning by assigning a random value to each weight.</a:t>
            </a:r>
          </a:p>
          <a:p>
            <a:pPr lvl="1"/>
            <a:r>
              <a:rPr lang="en-US" smtClean="0"/>
              <a:t>Delta learning rule – Modification in sympatric weight of a node is equal to the multiplication of error and the input.</a:t>
            </a:r>
          </a:p>
          <a:p>
            <a:pPr lvl="1"/>
            <a:r>
              <a:rPr lang="en-US" smtClean="0"/>
              <a:t>Correlation learning rule – The correlation rule is the supervised learning.</a:t>
            </a:r>
          </a:p>
          <a:p>
            <a:pPr lvl="1"/>
            <a:r>
              <a:rPr lang="en-US" smtClean="0"/>
              <a:t>Outstar learning rule – We can use it when it assumes that nodes or neurons in a network arranged in a layer.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185863"/>
            <a:ext cx="8572500" cy="44862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85750" y="4293933"/>
            <a:ext cx="1995437" cy="1379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"Neurons that fire together, wire together.“</a:t>
            </a:r>
          </a:p>
          <a:p>
            <a:endParaRPr lang="en-US" sz="825" dirty="0">
              <a:solidFill>
                <a:srgbClr val="FFFF00"/>
              </a:solidFill>
            </a:endParaRPr>
          </a:p>
          <a:p>
            <a:r>
              <a:rPr lang="el-GR" sz="1200" dirty="0">
                <a:solidFill>
                  <a:srgbClr val="FFFF00"/>
                </a:solidFill>
              </a:rPr>
              <a:t>Δ</a:t>
            </a:r>
            <a:r>
              <a:rPr lang="en-US" sz="1200" dirty="0">
                <a:solidFill>
                  <a:srgbClr val="FFFF00"/>
                </a:solidFill>
              </a:rPr>
              <a:t>w = </a:t>
            </a:r>
            <a:r>
              <a:rPr lang="el-GR" sz="1200" dirty="0">
                <a:solidFill>
                  <a:srgbClr val="FFFF00"/>
                </a:solidFill>
              </a:rPr>
              <a:t>η</a:t>
            </a:r>
            <a:r>
              <a:rPr lang="en-US" sz="1200" dirty="0">
                <a:solidFill>
                  <a:srgbClr val="FFFF00"/>
                </a:solidFill>
              </a:rPr>
              <a:t> </a:t>
            </a:r>
            <a:r>
              <a:rPr lang="el-GR" sz="1200" dirty="0">
                <a:solidFill>
                  <a:srgbClr val="FFFF00"/>
                </a:solidFill>
              </a:rPr>
              <a:t>×</a:t>
            </a:r>
            <a:r>
              <a:rPr lang="en-US" sz="1200" dirty="0">
                <a:solidFill>
                  <a:srgbClr val="FFFF00"/>
                </a:solidFill>
              </a:rPr>
              <a:t> X × Y</a:t>
            </a:r>
          </a:p>
          <a:p>
            <a:endParaRPr lang="en-US" sz="788" dirty="0">
              <a:solidFill>
                <a:srgbClr val="FFFF00"/>
              </a:solidFill>
            </a:endParaRPr>
          </a:p>
          <a:p>
            <a:r>
              <a:rPr lang="en-US" sz="1050" dirty="0">
                <a:solidFill>
                  <a:srgbClr val="FFFF00"/>
                </a:solidFill>
              </a:rPr>
              <a:t>X = input</a:t>
            </a:r>
          </a:p>
          <a:p>
            <a:r>
              <a:rPr lang="en-US" sz="1050" dirty="0">
                <a:solidFill>
                  <a:srgbClr val="FFFF00"/>
                </a:solidFill>
              </a:rPr>
              <a:t>Y = output (activation of neuron)</a:t>
            </a:r>
          </a:p>
          <a:p>
            <a:r>
              <a:rPr lang="en-US" sz="1050" dirty="0">
                <a:solidFill>
                  <a:srgbClr val="FFFF00"/>
                </a:solidFill>
              </a:rPr>
              <a:t>η = learning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187344" y="1959231"/>
            <a:ext cx="1783078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Update weights only when the perceptron misclassifies a pattern.</a:t>
            </a:r>
          </a:p>
          <a:p>
            <a:endParaRPr lang="en-US" sz="1200" dirty="0">
              <a:solidFill>
                <a:srgbClr val="FFFF00"/>
              </a:solidFill>
            </a:endParaRPr>
          </a:p>
          <a:p>
            <a:r>
              <a:rPr lang="el-GR" sz="1200" dirty="0">
                <a:solidFill>
                  <a:srgbClr val="FFFF00"/>
                </a:solidFill>
              </a:rPr>
              <a:t>Δ</a:t>
            </a:r>
            <a:r>
              <a:rPr lang="en-US" sz="1200" dirty="0">
                <a:solidFill>
                  <a:srgbClr val="FFFF00"/>
                </a:solidFill>
              </a:rPr>
              <a:t>w= </a:t>
            </a:r>
            <a:r>
              <a:rPr lang="el-GR" sz="1200" dirty="0">
                <a:solidFill>
                  <a:srgbClr val="FFFF00"/>
                </a:solidFill>
              </a:rPr>
              <a:t>η</a:t>
            </a:r>
            <a:r>
              <a:rPr lang="en-US" sz="1200" dirty="0">
                <a:solidFill>
                  <a:srgbClr val="FFFF00"/>
                </a:solidFill>
              </a:rPr>
              <a:t> </a:t>
            </a:r>
            <a:r>
              <a:rPr lang="el-GR" sz="1200" dirty="0">
                <a:solidFill>
                  <a:srgbClr val="FFFF00"/>
                </a:solidFill>
              </a:rPr>
              <a:t>×</a:t>
            </a:r>
            <a:r>
              <a:rPr lang="en-US" sz="1200" dirty="0">
                <a:solidFill>
                  <a:srgbClr val="FFFF00"/>
                </a:solidFill>
              </a:rPr>
              <a:t> </a:t>
            </a:r>
            <a:r>
              <a:rPr lang="el-GR" sz="1200" dirty="0">
                <a:solidFill>
                  <a:srgbClr val="FFFF00"/>
                </a:solidFill>
              </a:rPr>
              <a:t>(</a:t>
            </a:r>
            <a:r>
              <a:rPr lang="en-US" sz="1200" dirty="0">
                <a:solidFill>
                  <a:srgbClr val="FFFF00"/>
                </a:solidFill>
              </a:rPr>
              <a:t>Y’−Y) × X</a:t>
            </a:r>
          </a:p>
          <a:p>
            <a:endParaRPr lang="en-US" sz="1200" dirty="0">
              <a:solidFill>
                <a:srgbClr val="FFFF00"/>
              </a:solidFill>
            </a:endParaRPr>
          </a:p>
          <a:p>
            <a:r>
              <a:rPr lang="en-US" sz="1050" dirty="0">
                <a:solidFill>
                  <a:srgbClr val="FFFF00"/>
                </a:solidFill>
              </a:rPr>
              <a:t>Works for binary classification and linearly separable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38350" y="4293933"/>
            <a:ext cx="1992431" cy="1356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Minimize the mean squared error using gradient descent.</a:t>
            </a:r>
          </a:p>
          <a:p>
            <a:endParaRPr lang="en-US" sz="788" dirty="0">
              <a:solidFill>
                <a:srgbClr val="FFFF00"/>
              </a:solidFill>
            </a:endParaRPr>
          </a:p>
          <a:p>
            <a:r>
              <a:rPr lang="el-GR" sz="1200" dirty="0">
                <a:solidFill>
                  <a:srgbClr val="FFFF00"/>
                </a:solidFill>
              </a:rPr>
              <a:t>Δ</a:t>
            </a:r>
            <a:r>
              <a:rPr lang="en-US" sz="1200" dirty="0">
                <a:solidFill>
                  <a:srgbClr val="FFFF00"/>
                </a:solidFill>
              </a:rPr>
              <a:t>w= </a:t>
            </a:r>
            <a:r>
              <a:rPr lang="el-GR" sz="1200" dirty="0">
                <a:solidFill>
                  <a:srgbClr val="FFFF00"/>
                </a:solidFill>
              </a:rPr>
              <a:t>η</a:t>
            </a:r>
            <a:r>
              <a:rPr lang="en-US" sz="1200" dirty="0">
                <a:solidFill>
                  <a:srgbClr val="FFFF00"/>
                </a:solidFill>
              </a:rPr>
              <a:t> </a:t>
            </a:r>
            <a:r>
              <a:rPr lang="el-GR" sz="1200" dirty="0">
                <a:solidFill>
                  <a:srgbClr val="FFFF00"/>
                </a:solidFill>
              </a:rPr>
              <a:t>×</a:t>
            </a:r>
            <a:r>
              <a:rPr lang="en-US" sz="1200" dirty="0">
                <a:solidFill>
                  <a:srgbClr val="FFFF00"/>
                </a:solidFill>
              </a:rPr>
              <a:t> </a:t>
            </a:r>
            <a:r>
              <a:rPr lang="el-GR" sz="1200" dirty="0">
                <a:solidFill>
                  <a:srgbClr val="FFFF00"/>
                </a:solidFill>
              </a:rPr>
              <a:t>(</a:t>
            </a:r>
            <a:r>
              <a:rPr lang="en-US" sz="1200" dirty="0">
                <a:solidFill>
                  <a:srgbClr val="FFFF00"/>
                </a:solidFill>
              </a:rPr>
              <a:t>Y’−Y) × X</a:t>
            </a:r>
          </a:p>
          <a:p>
            <a:endParaRPr lang="en-US" sz="675" dirty="0">
              <a:solidFill>
                <a:srgbClr val="FFFF00"/>
              </a:solidFill>
            </a:endParaRPr>
          </a:p>
          <a:p>
            <a:r>
              <a:rPr lang="en-US" sz="1050" dirty="0">
                <a:solidFill>
                  <a:srgbClr val="FFFF00"/>
                </a:solidFill>
              </a:rPr>
              <a:t>(Same as perceptron, but applied to analog/continuous output &amp; differentiable activation.)</a:t>
            </a:r>
          </a:p>
        </p:txBody>
      </p:sp>
      <p:sp>
        <p:nvSpPr>
          <p:cNvPr id="8" name="Rectangle 7"/>
          <p:cNvSpPr/>
          <p:nvPr/>
        </p:nvSpPr>
        <p:spPr>
          <a:xfrm>
            <a:off x="5368608" y="1913975"/>
            <a:ext cx="1903555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Strengthen weights based on how strongly input correlates with output.</a:t>
            </a:r>
          </a:p>
          <a:p>
            <a:endParaRPr lang="en-US" sz="600" dirty="0">
              <a:solidFill>
                <a:srgbClr val="FFFF00"/>
              </a:solidFill>
            </a:endParaRPr>
          </a:p>
          <a:p>
            <a:r>
              <a:rPr lang="el-GR" sz="1200" dirty="0">
                <a:solidFill>
                  <a:srgbClr val="FFFF00"/>
                </a:solidFill>
              </a:rPr>
              <a:t>Δ</a:t>
            </a:r>
            <a:r>
              <a:rPr lang="en-US" sz="1200" dirty="0">
                <a:solidFill>
                  <a:srgbClr val="FFFF00"/>
                </a:solidFill>
              </a:rPr>
              <a:t>w = </a:t>
            </a:r>
            <a:r>
              <a:rPr lang="el-GR" sz="1200" dirty="0">
                <a:solidFill>
                  <a:srgbClr val="FFFF00"/>
                </a:solidFill>
              </a:rPr>
              <a:t>η</a:t>
            </a:r>
            <a:r>
              <a:rPr lang="en-US" sz="1200" dirty="0">
                <a:solidFill>
                  <a:srgbClr val="FFFF00"/>
                </a:solidFill>
              </a:rPr>
              <a:t> </a:t>
            </a:r>
            <a:r>
              <a:rPr lang="el-GR" sz="1200" dirty="0">
                <a:solidFill>
                  <a:srgbClr val="FFFF00"/>
                </a:solidFill>
              </a:rPr>
              <a:t>×</a:t>
            </a:r>
            <a:r>
              <a:rPr lang="en-US" sz="1200" dirty="0">
                <a:solidFill>
                  <a:srgbClr val="FFFF00"/>
                </a:solidFill>
              </a:rPr>
              <a:t> X × d</a:t>
            </a:r>
          </a:p>
          <a:p>
            <a:endParaRPr lang="en-US" sz="600" dirty="0">
              <a:solidFill>
                <a:srgbClr val="FFFF00"/>
              </a:solidFill>
            </a:endParaRPr>
          </a:p>
          <a:p>
            <a:r>
              <a:rPr lang="en-US" sz="1050" dirty="0">
                <a:solidFill>
                  <a:srgbClr val="FFFF00"/>
                </a:solidFill>
              </a:rPr>
              <a:t>variant of the </a:t>
            </a:r>
            <a:r>
              <a:rPr lang="en-US" sz="1050" dirty="0" err="1">
                <a:solidFill>
                  <a:srgbClr val="FFFF00"/>
                </a:solidFill>
              </a:rPr>
              <a:t>Hebbian</a:t>
            </a:r>
            <a:r>
              <a:rPr lang="en-US" sz="1050" dirty="0">
                <a:solidFill>
                  <a:srgbClr val="FFFF00"/>
                </a:solidFill>
              </a:rPr>
              <a:t> rule; actual output is replaced by  target (desired) output in the weight update calculation.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3563" y="4159117"/>
            <a:ext cx="1993031" cy="1500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FFFF00"/>
                </a:solidFill>
              </a:rPr>
              <a:t>A single source neuron trains multiple output neurons; each weight tries to match the desired output value.</a:t>
            </a:r>
          </a:p>
          <a:p>
            <a:endParaRPr lang="en-US" sz="450" dirty="0">
              <a:solidFill>
                <a:srgbClr val="FFFF00"/>
              </a:solidFill>
            </a:endParaRPr>
          </a:p>
          <a:p>
            <a:r>
              <a:rPr lang="en-US" sz="900" dirty="0" err="1">
                <a:solidFill>
                  <a:srgbClr val="FFFF00"/>
                </a:solidFill>
              </a:rPr>
              <a:t>Δw</a:t>
            </a:r>
            <a:r>
              <a:rPr lang="en-US" sz="900" dirty="0">
                <a:solidFill>
                  <a:srgbClr val="FFFF00"/>
                </a:solidFill>
              </a:rPr>
              <a:t> = η × (d−w) ×  a</a:t>
            </a:r>
            <a:r>
              <a:rPr lang="en-US" sz="900" baseline="-25000" dirty="0">
                <a:solidFill>
                  <a:srgbClr val="FFFF00"/>
                </a:solidFill>
              </a:rPr>
              <a:t>s</a:t>
            </a:r>
            <a:endParaRPr lang="en-US" sz="900" dirty="0">
              <a:solidFill>
                <a:srgbClr val="FFFF00"/>
              </a:solidFill>
            </a:endParaRPr>
          </a:p>
          <a:p>
            <a:r>
              <a:rPr lang="en-US" sz="900" dirty="0">
                <a:solidFill>
                  <a:srgbClr val="FFFF00"/>
                </a:solidFill>
              </a:rPr>
              <a:t>Where:</a:t>
            </a:r>
          </a:p>
          <a:p>
            <a:r>
              <a:rPr lang="en-US" sz="900" dirty="0">
                <a:solidFill>
                  <a:srgbClr val="FFFF00"/>
                </a:solidFill>
              </a:rPr>
              <a:t>d = desired output</a:t>
            </a:r>
          </a:p>
          <a:p>
            <a:r>
              <a:rPr lang="en-US" sz="900" dirty="0">
                <a:solidFill>
                  <a:srgbClr val="FFFF00"/>
                </a:solidFill>
              </a:rPr>
              <a:t>w = current weight</a:t>
            </a:r>
          </a:p>
          <a:p>
            <a:r>
              <a:rPr lang="en-US" sz="900" dirty="0">
                <a:solidFill>
                  <a:srgbClr val="FFFF00"/>
                </a:solidFill>
              </a:rPr>
              <a:t>a</a:t>
            </a:r>
            <a:r>
              <a:rPr lang="en-US" sz="900" baseline="-25000" dirty="0">
                <a:solidFill>
                  <a:srgbClr val="FFFF00"/>
                </a:solidFill>
              </a:rPr>
              <a:t>s</a:t>
            </a:r>
            <a:r>
              <a:rPr lang="en-US" sz="900" dirty="0">
                <a:solidFill>
                  <a:srgbClr val="FFFF00"/>
                </a:solidFill>
              </a:rPr>
              <a:t> = activation of source neuron</a:t>
            </a:r>
            <a:endParaRPr lang="en-US" sz="1050" dirty="0">
              <a:solidFill>
                <a:srgbClr val="FFFF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32649" y="851743"/>
            <a:ext cx="16359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</a:p>
        </p:txBody>
      </p:sp>
    </p:spTree>
    <p:extLst>
      <p:ext uri="{BB962C8B-B14F-4D97-AF65-F5344CB8AC3E}">
        <p14:creationId xmlns:p14="http://schemas.microsoft.com/office/powerpoint/2010/main" val="27884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05249"/>
            <a:ext cx="7886700" cy="496106"/>
          </a:xfrm>
        </p:spPr>
        <p:txBody>
          <a:bodyPr>
            <a:noAutofit/>
          </a:bodyPr>
          <a:lstStyle/>
          <a:p>
            <a:pPr algn="ctr"/>
            <a:r>
              <a:rPr lang="en-US" sz="4000" b="1" u="sng" dirty="0" err="1"/>
              <a:t>Habbian</a:t>
            </a:r>
            <a:r>
              <a:rPr lang="en-US" sz="4000" b="1" u="sng" dirty="0"/>
              <a:t>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47312"/>
            <a:ext cx="9144000" cy="3263504"/>
          </a:xfrm>
        </p:spPr>
        <p:txBody>
          <a:bodyPr>
            <a:noAutofit/>
          </a:bodyPr>
          <a:lstStyle/>
          <a:p>
            <a:r>
              <a:rPr lang="en-US" sz="3600" b="1" dirty="0"/>
              <a:t>History</a:t>
            </a:r>
          </a:p>
          <a:p>
            <a:pPr lvl="1"/>
            <a:endParaRPr lang="en-US" sz="3600" dirty="0"/>
          </a:p>
          <a:p>
            <a:pPr lvl="1"/>
            <a:r>
              <a:rPr lang="en-US" sz="3600" dirty="0"/>
              <a:t>The </a:t>
            </a:r>
            <a:r>
              <a:rPr lang="en-US" sz="3600" dirty="0" err="1"/>
              <a:t>Hebbian</a:t>
            </a:r>
            <a:r>
              <a:rPr lang="en-US" sz="3600" dirty="0"/>
              <a:t> rule was the first learning rule. </a:t>
            </a:r>
          </a:p>
          <a:p>
            <a:pPr lvl="1"/>
            <a:endParaRPr lang="en-US" sz="3600" dirty="0"/>
          </a:p>
          <a:p>
            <a:pPr lvl="1"/>
            <a:r>
              <a:rPr lang="en-US" sz="3600" dirty="0"/>
              <a:t>In 1949 </a:t>
            </a:r>
            <a:r>
              <a:rPr lang="en-US" sz="3600" i="1" dirty="0"/>
              <a:t>Donald Hebb</a:t>
            </a:r>
            <a:r>
              <a:rPr lang="en-US" sz="3600" dirty="0"/>
              <a:t> developed it as learning algorithm of the unsupervised neural network. </a:t>
            </a:r>
          </a:p>
        </p:txBody>
      </p:sp>
    </p:spTree>
    <p:extLst>
      <p:ext uri="{BB962C8B-B14F-4D97-AF65-F5344CB8AC3E}">
        <p14:creationId xmlns:p14="http://schemas.microsoft.com/office/powerpoint/2010/main" val="74199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/>
              <a:t>Hebb (1949) Neurophysiological Postulate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22554"/>
            <a:ext cx="9144000" cy="326350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 dirty="0"/>
              <a:t>If neuron A keeps activating neuron B again and again, some change happens in the cells, and A becomes better and stronger at activating B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15770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555" y="0"/>
            <a:ext cx="7886700" cy="532263"/>
          </a:xfrm>
        </p:spPr>
        <p:txBody>
          <a:bodyPr>
            <a:noAutofit/>
          </a:bodyPr>
          <a:lstStyle/>
          <a:p>
            <a:pPr algn="ctr"/>
            <a:r>
              <a:rPr lang="en-US" sz="3600" b="1" u="sng" dirty="0" err="1"/>
              <a:t>Habbian</a:t>
            </a:r>
            <a:r>
              <a:rPr lang="en-US" sz="3600" b="1" u="sng" dirty="0"/>
              <a:t>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353012"/>
            <a:ext cx="4213719" cy="3656570"/>
          </a:xfrm>
        </p:spPr>
        <p:txBody>
          <a:bodyPr>
            <a:noAutofit/>
          </a:bodyPr>
          <a:lstStyle/>
          <a:p>
            <a:r>
              <a:rPr lang="en-US" dirty="0"/>
              <a:t>“Neurons that fire together, wire together</a:t>
            </a:r>
            <a:r>
              <a:rPr lang="en-US" dirty="0" smtClean="0"/>
              <a:t>.”</a:t>
            </a:r>
          </a:p>
          <a:p>
            <a:r>
              <a:rPr lang="en-US" dirty="0"/>
              <a:t>When two neurons activate at the same time again and again, their connection becomes stronger. This stronger connection helps the brain learn, remember things, and build skills by repeating them.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6093"/>
          <a:stretch/>
        </p:blipFill>
        <p:spPr>
          <a:xfrm>
            <a:off x="4213719" y="1353012"/>
            <a:ext cx="4930281" cy="48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303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9144000" cy="685800"/>
          </a:xfrm>
        </p:spPr>
        <p:txBody>
          <a:bodyPr>
            <a:normAutofit/>
          </a:bodyPr>
          <a:lstStyle/>
          <a:p>
            <a:pPr algn="ctr"/>
            <a:r>
              <a:rPr lang="en-US" sz="2700" b="1" u="sng" dirty="0"/>
              <a:t>Difference Between Presynaptic Neuron and Postsynaptic Neuron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71340"/>
            <a:ext cx="4881365" cy="3263504"/>
          </a:xfrm>
        </p:spPr>
        <p:txBody>
          <a:bodyPr>
            <a:noAutofit/>
          </a:bodyPr>
          <a:lstStyle/>
          <a:p>
            <a:r>
              <a:rPr lang="en-US" dirty="0"/>
              <a:t>The presynaptic neuron sends the signal.</a:t>
            </a:r>
          </a:p>
          <a:p>
            <a:endParaRPr lang="en-US" dirty="0"/>
          </a:p>
          <a:p>
            <a:r>
              <a:rPr lang="en-US" dirty="0"/>
              <a:t>The postsynaptic neuron receives the signal.</a:t>
            </a:r>
          </a:p>
          <a:p>
            <a:endParaRPr lang="en-US" dirty="0"/>
          </a:p>
          <a:p>
            <a:r>
              <a:rPr lang="en-US" dirty="0"/>
              <a:t>The presynaptic neuron releases chemicals (neurotransmitters) that cross the gap and activate the postsynaptic neuron.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366" y="1296537"/>
            <a:ext cx="4262635" cy="499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1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056" y="0"/>
            <a:ext cx="7886700" cy="501555"/>
          </a:xfrm>
        </p:spPr>
        <p:txBody>
          <a:bodyPr>
            <a:noAutofit/>
          </a:bodyPr>
          <a:lstStyle/>
          <a:p>
            <a:pPr algn="ctr"/>
            <a:r>
              <a:rPr lang="en-US" sz="4000" b="1" u="sng" dirty="0" err="1"/>
              <a:t>Habbian</a:t>
            </a:r>
            <a:r>
              <a:rPr lang="en-US" sz="4000" b="1" u="sng" dirty="0"/>
              <a:t>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82486"/>
            <a:ext cx="9144000" cy="3263504"/>
          </a:xfrm>
        </p:spPr>
        <p:txBody>
          <a:bodyPr>
            <a:noAutofit/>
          </a:bodyPr>
          <a:lstStyle/>
          <a:p>
            <a:r>
              <a:rPr lang="en-US" sz="3200" b="1" dirty="0" err="1"/>
              <a:t>Hebbian</a:t>
            </a:r>
            <a:r>
              <a:rPr lang="en-US" sz="3200" b="1" dirty="0"/>
              <a:t> Assumption :</a:t>
            </a:r>
          </a:p>
          <a:p>
            <a:endParaRPr lang="en-US" sz="1050" dirty="0"/>
          </a:p>
          <a:p>
            <a:r>
              <a:rPr lang="en-US" sz="3200" dirty="0"/>
              <a:t>If two nearby neurons turn on and off together, their connection (weight) becomes stronger.</a:t>
            </a:r>
          </a:p>
          <a:p>
            <a:endParaRPr lang="en-US" sz="3200" dirty="0"/>
          </a:p>
          <a:p>
            <a:r>
              <a:rPr lang="en-US" sz="3200" dirty="0"/>
              <a:t>If they work opposite to each other, the connection becomes weaker.</a:t>
            </a:r>
          </a:p>
          <a:p>
            <a:endParaRPr lang="en-US" sz="3200" dirty="0"/>
          </a:p>
          <a:p>
            <a:r>
              <a:rPr lang="en-US" sz="3200" dirty="0"/>
              <a:t>If their signals are not related, the connection does not change.</a:t>
            </a:r>
          </a:p>
        </p:txBody>
      </p:sp>
    </p:spTree>
    <p:extLst>
      <p:ext uri="{BB962C8B-B14F-4D97-AF65-F5344CB8AC3E}">
        <p14:creationId xmlns:p14="http://schemas.microsoft.com/office/powerpoint/2010/main" val="2232962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6316" b="10877"/>
          <a:stretch/>
        </p:blipFill>
        <p:spPr>
          <a:xfrm>
            <a:off x="0" y="0"/>
            <a:ext cx="9144000" cy="531270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572014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400" dirty="0" smtClean="0"/>
              <a:t>Equation (2) </a:t>
            </a:r>
            <a:r>
              <a:rPr lang="en-US" sz="2400" dirty="0" err="1" smtClean="0"/>
              <a:t>emphasises</a:t>
            </a:r>
            <a:r>
              <a:rPr lang="en-US" sz="2400" dirty="0" smtClean="0"/>
              <a:t> the correlation nature of a </a:t>
            </a:r>
            <a:r>
              <a:rPr lang="en-US" sz="2400" dirty="0" err="1" smtClean="0"/>
              <a:t>Hebbian</a:t>
            </a:r>
            <a:r>
              <a:rPr lang="en-US" sz="2400" dirty="0" smtClean="0"/>
              <a:t> synapse. It is referred to as the </a:t>
            </a:r>
            <a:r>
              <a:rPr lang="en-US" sz="2400" b="1" dirty="0" smtClean="0"/>
              <a:t>activity product rule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19266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292" y="41820"/>
            <a:ext cx="7886700" cy="593678"/>
          </a:xfrm>
        </p:spPr>
        <p:txBody>
          <a:bodyPr>
            <a:noAutofit/>
          </a:bodyPr>
          <a:lstStyle/>
          <a:p>
            <a:pPr algn="ctr"/>
            <a:r>
              <a:rPr lang="en-US" sz="4000" b="1" u="sng" dirty="0"/>
              <a:t>Flaw in Hebb’s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9734"/>
            <a:ext cx="9144000" cy="32635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>Original </a:t>
            </a:r>
            <a:r>
              <a:rPr lang="en-US" sz="3200" b="1" dirty="0" err="1"/>
              <a:t>Hebb’s</a:t>
            </a:r>
            <a:r>
              <a:rPr lang="en-US" sz="3200" b="1" dirty="0"/>
              <a:t> Rule:</a:t>
            </a:r>
            <a:endParaRPr lang="en-US" sz="3200" dirty="0"/>
          </a:p>
          <a:p>
            <a:r>
              <a:rPr lang="en-US" sz="3200" dirty="0"/>
              <a:t>“Neurons that fire together, wire together.”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3200" b="1" dirty="0"/>
              <a:t>Flaw:</a:t>
            </a:r>
            <a:endParaRPr lang="en-US" sz="3200" dirty="0"/>
          </a:p>
          <a:p>
            <a:r>
              <a:rPr lang="en-US" sz="3200" dirty="0"/>
              <a:t>It only increases the connection strength (weight).</a:t>
            </a:r>
          </a:p>
          <a:p>
            <a:endParaRPr lang="en-US" sz="1600" dirty="0"/>
          </a:p>
          <a:p>
            <a:r>
              <a:rPr lang="en-US" sz="3200" dirty="0"/>
              <a:t>If used repeatedly, the weight keeps growing without any limit.</a:t>
            </a:r>
          </a:p>
          <a:p>
            <a:endParaRPr lang="en-US" sz="1600" dirty="0"/>
          </a:p>
          <a:p>
            <a:r>
              <a:rPr lang="en-US" sz="3200" dirty="0"/>
              <a:t>This unlimited growth is unrealistic and causes instability.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32913" t="28351" r="10034" b="62807"/>
          <a:stretch/>
        </p:blipFill>
        <p:spPr>
          <a:xfrm>
            <a:off x="4572000" y="2444930"/>
            <a:ext cx="3912670" cy="69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70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093"/>
            <a:ext cx="7886700" cy="542975"/>
          </a:xfrm>
        </p:spPr>
        <p:txBody>
          <a:bodyPr>
            <a:normAutofit/>
          </a:bodyPr>
          <a:lstStyle/>
          <a:p>
            <a:pPr algn="ctr"/>
            <a:r>
              <a:rPr lang="en-US" sz="3200" b="1" u="sng" dirty="0"/>
              <a:t>The Normalization Rule (The Fix)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9893"/>
            <a:ext cx="9144000" cy="41027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Synaptic Normalization (Simple):</a:t>
            </a:r>
            <a:endParaRPr lang="en-US" dirty="0"/>
          </a:p>
          <a:p>
            <a:r>
              <a:rPr lang="en-US" dirty="0"/>
              <a:t>It is an improvement added to </a:t>
            </a:r>
            <a:r>
              <a:rPr lang="en-US" dirty="0" err="1"/>
              <a:t>Hebbian</a:t>
            </a:r>
            <a:r>
              <a:rPr lang="en-US" dirty="0"/>
              <a:t> learning.</a:t>
            </a:r>
          </a:p>
          <a:p>
            <a:r>
              <a:rPr lang="en-US" dirty="0"/>
              <a:t>It keeps the total strength of a neuron’s connections limited and balanced.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Analogy:</a:t>
            </a:r>
            <a:endParaRPr lang="en-US" dirty="0"/>
          </a:p>
          <a:p>
            <a:r>
              <a:rPr lang="en-US" u="sng" dirty="0"/>
              <a:t>Like having a fixed budget</a:t>
            </a:r>
            <a:r>
              <a:rPr lang="en-US" dirty="0"/>
              <a:t>:</a:t>
            </a:r>
          </a:p>
          <a:p>
            <a:pPr lvl="1"/>
            <a:r>
              <a:rPr lang="en-US" sz="2800" dirty="0"/>
              <a:t>If one connection gets stronger,</a:t>
            </a:r>
          </a:p>
          <a:p>
            <a:pPr lvl="1"/>
            <a:r>
              <a:rPr lang="en-US" sz="2800" dirty="0"/>
              <a:t>other connections must weaken a little</a:t>
            </a:r>
          </a:p>
          <a:p>
            <a:pPr lvl="1"/>
            <a:r>
              <a:rPr lang="en-US" sz="2800" dirty="0"/>
              <a:t>so the total strength stays the same.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339" t="16391" r="4714" b="48924"/>
          <a:stretch/>
        </p:blipFill>
        <p:spPr>
          <a:xfrm>
            <a:off x="4763069" y="2961431"/>
            <a:ext cx="4252617" cy="174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106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14477" b="13676"/>
          <a:stretch/>
        </p:blipFill>
        <p:spPr>
          <a:xfrm>
            <a:off x="0" y="1"/>
            <a:ext cx="9144000" cy="3330054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b="17094"/>
          <a:stretch/>
        </p:blipFill>
        <p:spPr>
          <a:xfrm>
            <a:off x="0" y="3343118"/>
            <a:ext cx="9144000" cy="360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90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6235"/>
          <a:stretch/>
        </p:blipFill>
        <p:spPr>
          <a:xfrm>
            <a:off x="0" y="-36678"/>
            <a:ext cx="5824182" cy="68946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34765" y="3429000"/>
            <a:ext cx="289720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Euclidean Norm, derived from the Pythagorean theorem applied to N-dimensional space.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378" y="614150"/>
            <a:ext cx="2447978" cy="2065077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5934590" y="2998137"/>
            <a:ext cx="575392" cy="6998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73814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10249"/>
          <a:stretch/>
        </p:blipFill>
        <p:spPr>
          <a:xfrm>
            <a:off x="0" y="0"/>
            <a:ext cx="9144000" cy="35686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b="10315"/>
          <a:stretch/>
        </p:blipFill>
        <p:spPr>
          <a:xfrm>
            <a:off x="0" y="3453152"/>
            <a:ext cx="9144000" cy="3404848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 rot="5400000">
            <a:off x="4088971" y="2852566"/>
            <a:ext cx="443182" cy="7579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2171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410" b="16633"/>
          <a:stretch/>
        </p:blipFill>
        <p:spPr>
          <a:xfrm>
            <a:off x="8804" y="0"/>
            <a:ext cx="9135196" cy="33027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385" b="17106"/>
          <a:stretch/>
        </p:blipFill>
        <p:spPr>
          <a:xfrm>
            <a:off x="8804" y="3302758"/>
            <a:ext cx="9135196" cy="3555242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4231152" y="2606797"/>
            <a:ext cx="681696" cy="7095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72016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101" b="16235"/>
          <a:stretch/>
        </p:blipFill>
        <p:spPr>
          <a:xfrm>
            <a:off x="-1" y="0"/>
            <a:ext cx="9138507" cy="35276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637" t="-192" r="439" b="16400"/>
          <a:stretch/>
        </p:blipFill>
        <p:spPr>
          <a:xfrm>
            <a:off x="-35453" y="3527602"/>
            <a:ext cx="9138507" cy="3254086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4223384" y="2806678"/>
            <a:ext cx="620830" cy="8049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1124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6717"/>
          <a:stretch/>
        </p:blipFill>
        <p:spPr>
          <a:xfrm>
            <a:off x="13698" y="0"/>
            <a:ext cx="9130302" cy="37940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16915"/>
          <a:stretch/>
        </p:blipFill>
        <p:spPr>
          <a:xfrm>
            <a:off x="-26126" y="3643367"/>
            <a:ext cx="9144000" cy="3227696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3980699" y="2818411"/>
            <a:ext cx="786865" cy="836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94913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4812"/>
          <a:stretch/>
        </p:blipFill>
        <p:spPr>
          <a:xfrm>
            <a:off x="0" y="0"/>
            <a:ext cx="9144000" cy="35484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9938"/>
          <a:stretch/>
        </p:blipFill>
        <p:spPr>
          <a:xfrm>
            <a:off x="0" y="3671249"/>
            <a:ext cx="9144000" cy="3186752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3760107" y="2859356"/>
            <a:ext cx="786865" cy="836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238212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6304"/>
          <a:stretch/>
        </p:blipFill>
        <p:spPr>
          <a:xfrm>
            <a:off x="0" y="-1"/>
            <a:ext cx="9144000" cy="35074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16787"/>
          <a:stretch/>
        </p:blipFill>
        <p:spPr>
          <a:xfrm>
            <a:off x="0" y="3398293"/>
            <a:ext cx="9144000" cy="3459708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3421140" y="2654639"/>
            <a:ext cx="786865" cy="836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621840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6485"/>
          <a:stretch/>
        </p:blipFill>
        <p:spPr>
          <a:xfrm>
            <a:off x="6577" y="-62777"/>
            <a:ext cx="9137423" cy="34064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16624"/>
          <a:stretch/>
        </p:blipFill>
        <p:spPr>
          <a:xfrm>
            <a:off x="6576" y="3234519"/>
            <a:ext cx="9137423" cy="3623481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3448436" y="2546997"/>
            <a:ext cx="786865" cy="836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706022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4857"/>
          <a:stretch/>
        </p:blipFill>
        <p:spPr>
          <a:xfrm>
            <a:off x="0" y="-1"/>
            <a:ext cx="9144000" cy="35757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15667"/>
          <a:stretch/>
        </p:blipFill>
        <p:spPr>
          <a:xfrm>
            <a:off x="0" y="3575713"/>
            <a:ext cx="9144000" cy="3282287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3760107" y="2763819"/>
            <a:ext cx="786865" cy="836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23694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0531"/>
          <a:stretch/>
        </p:blipFill>
        <p:spPr>
          <a:xfrm>
            <a:off x="0" y="0"/>
            <a:ext cx="9144000" cy="40012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9532"/>
          <a:stretch/>
        </p:blipFill>
        <p:spPr>
          <a:xfrm>
            <a:off x="0" y="4001294"/>
            <a:ext cx="9144000" cy="2884241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3612209" y="3054465"/>
            <a:ext cx="786865" cy="836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7751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5668"/>
          <a:stretch/>
        </p:blipFill>
        <p:spPr>
          <a:xfrm>
            <a:off x="13697" y="0"/>
            <a:ext cx="9109287" cy="36712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16096"/>
          <a:stretch/>
        </p:blipFill>
        <p:spPr>
          <a:xfrm>
            <a:off x="0" y="3534770"/>
            <a:ext cx="9144000" cy="3323230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3393845" y="2806441"/>
            <a:ext cx="786865" cy="836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8504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4495"/>
          <a:stretch/>
        </p:blipFill>
        <p:spPr>
          <a:xfrm>
            <a:off x="0" y="0"/>
            <a:ext cx="9144000" cy="37804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16717"/>
          <a:stretch/>
        </p:blipFill>
        <p:spPr>
          <a:xfrm>
            <a:off x="0" y="3562066"/>
            <a:ext cx="9144000" cy="3227695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3475732" y="2776894"/>
            <a:ext cx="786865" cy="836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60096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4418"/>
          <a:stretch/>
        </p:blipFill>
        <p:spPr>
          <a:xfrm>
            <a:off x="20121" y="0"/>
            <a:ext cx="9123879" cy="35302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16982"/>
          <a:stretch/>
        </p:blipFill>
        <p:spPr>
          <a:xfrm>
            <a:off x="0" y="3530239"/>
            <a:ext cx="9144000" cy="3327762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4178567" y="2785813"/>
            <a:ext cx="786865" cy="836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723018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0959"/>
          <a:stretch/>
        </p:blipFill>
        <p:spPr>
          <a:xfrm>
            <a:off x="0" y="-1"/>
            <a:ext cx="9144000" cy="39442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16430"/>
          <a:stretch/>
        </p:blipFill>
        <p:spPr>
          <a:xfrm>
            <a:off x="0" y="3944203"/>
            <a:ext cx="9144000" cy="2913798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3530323" y="3132309"/>
            <a:ext cx="786865" cy="836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644163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4455" b="17733"/>
          <a:stretch/>
        </p:blipFill>
        <p:spPr>
          <a:xfrm>
            <a:off x="0" y="21274"/>
            <a:ext cx="9144000" cy="3336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243" t="4661" b="17733"/>
          <a:stretch/>
        </p:blipFill>
        <p:spPr>
          <a:xfrm>
            <a:off x="0" y="3493827"/>
            <a:ext cx="9144000" cy="3364173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3760107" y="2612924"/>
            <a:ext cx="786865" cy="836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170001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5668"/>
          <a:stretch/>
        </p:blipFill>
        <p:spPr>
          <a:xfrm>
            <a:off x="0" y="0"/>
            <a:ext cx="9144000" cy="35757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17858"/>
          <a:stretch/>
        </p:blipFill>
        <p:spPr>
          <a:xfrm>
            <a:off x="0" y="3575713"/>
            <a:ext cx="9144000" cy="3282287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3243720" y="2696352"/>
            <a:ext cx="786865" cy="836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149428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5668"/>
          <a:stretch/>
        </p:blipFill>
        <p:spPr>
          <a:xfrm>
            <a:off x="13698" y="0"/>
            <a:ext cx="9130302" cy="33077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10004"/>
          <a:stretch/>
        </p:blipFill>
        <p:spPr>
          <a:xfrm>
            <a:off x="13698" y="3307758"/>
            <a:ext cx="9130302" cy="3562741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3994347" y="2563333"/>
            <a:ext cx="786865" cy="836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39158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0959"/>
          <a:stretch/>
        </p:blipFill>
        <p:spPr>
          <a:xfrm>
            <a:off x="0" y="-1"/>
            <a:ext cx="9144000" cy="33897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16675"/>
          <a:stretch/>
        </p:blipFill>
        <p:spPr>
          <a:xfrm>
            <a:off x="0" y="3389737"/>
            <a:ext cx="9144000" cy="3468264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3557618" y="2577843"/>
            <a:ext cx="786865" cy="836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54545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1815"/>
          <a:stretch/>
        </p:blipFill>
        <p:spPr>
          <a:xfrm>
            <a:off x="25042" y="0"/>
            <a:ext cx="9093916" cy="37940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15799"/>
          <a:stretch/>
        </p:blipFill>
        <p:spPr>
          <a:xfrm>
            <a:off x="0" y="3630305"/>
            <a:ext cx="9144000" cy="3227696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3639505" y="2818412"/>
            <a:ext cx="786865" cy="836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26320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4384"/>
          <a:stretch/>
        </p:blipFill>
        <p:spPr>
          <a:xfrm>
            <a:off x="0" y="0"/>
            <a:ext cx="9144000" cy="37804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16367"/>
          <a:stretch/>
        </p:blipFill>
        <p:spPr>
          <a:xfrm>
            <a:off x="0" y="3562066"/>
            <a:ext cx="9144000" cy="3295934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3243720" y="2811013"/>
            <a:ext cx="786865" cy="836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5643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6524"/>
          <a:stretch/>
        </p:blipFill>
        <p:spPr>
          <a:xfrm>
            <a:off x="13698" y="0"/>
            <a:ext cx="9130302" cy="33846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10267"/>
          <a:stretch/>
        </p:blipFill>
        <p:spPr>
          <a:xfrm>
            <a:off x="13698" y="3384645"/>
            <a:ext cx="9130302" cy="3477452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3766956" y="2640220"/>
            <a:ext cx="786865" cy="836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352880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0648"/>
          <a:stretch/>
        </p:blipFill>
        <p:spPr>
          <a:xfrm>
            <a:off x="0" y="-62776"/>
            <a:ext cx="9144000" cy="35614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16096"/>
          <a:stretch/>
        </p:blipFill>
        <p:spPr>
          <a:xfrm>
            <a:off x="0" y="3498649"/>
            <a:ext cx="9144000" cy="3359351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5400000">
            <a:off x="3760107" y="2686756"/>
            <a:ext cx="786865" cy="836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70809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5091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17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5423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693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5665</TotalTime>
  <Words>836</Words>
  <Application>Microsoft Office PowerPoint</Application>
  <PresentationFormat>On-screen Show (4:3)</PresentationFormat>
  <Paragraphs>103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Times New Roman</vt:lpstr>
      <vt:lpstr>Office Theme</vt:lpstr>
      <vt:lpstr>Learning Rules (theory)  in Neural Network</vt:lpstr>
      <vt:lpstr>Learning Rules in Neural Network</vt:lpstr>
      <vt:lpstr>Learning Rules in Neural Network</vt:lpstr>
      <vt:lpstr>Habbian Learning</vt:lpstr>
      <vt:lpstr>Hebb (1949) Neurophysiological Postulate</vt:lpstr>
      <vt:lpstr>Habbian Learning</vt:lpstr>
      <vt:lpstr>Difference Between Presynaptic Neuron and Postsynaptic Neuron</vt:lpstr>
      <vt:lpstr>Habbian Learning</vt:lpstr>
      <vt:lpstr>PowerPoint Presentation</vt:lpstr>
      <vt:lpstr>Flaw in Hebb’s Law</vt:lpstr>
      <vt:lpstr>The Normalization Rule (The Fix)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Representation &amp; Learning Theory</dc:title>
  <dc:creator>Microsoft account</dc:creator>
  <cp:lastModifiedBy>Uzair Khan</cp:lastModifiedBy>
  <cp:revision>119</cp:revision>
  <dcterms:created xsi:type="dcterms:W3CDTF">2025-11-12T02:01:53Z</dcterms:created>
  <dcterms:modified xsi:type="dcterms:W3CDTF">2026-01-10T14:22:55Z</dcterms:modified>
</cp:coreProperties>
</file>